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iMhHEVgERvvJxmf7BCV02dQfDn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02"/>
    <p:restoredTop sz="94658"/>
  </p:normalViewPr>
  <p:slideViewPr>
    <p:cSldViewPr snapToGrid="0">
      <p:cViewPr varScale="1">
        <p:scale>
          <a:sx n="121" d="100"/>
          <a:sy n="121" d="100"/>
        </p:scale>
        <p:origin x="176" y="7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bad18276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6bad18276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55c330574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255c330574c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55c33055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255c330556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76e2b878a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g276e2b878a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6ee14835eb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6ee14835eb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55c330574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255c330574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55c330574c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255c330574c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55c330574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255c330574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>
            <a:spLocks noGrp="1"/>
          </p:cNvSpPr>
          <p:nvPr>
            <p:ph type="title"/>
          </p:nvPr>
        </p:nvSpPr>
        <p:spPr>
          <a:xfrm>
            <a:off x="457200" y="6879"/>
            <a:ext cx="8229600" cy="6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body" idx="1"/>
          </p:nvPr>
        </p:nvSpPr>
        <p:spPr>
          <a:xfrm>
            <a:off x="457200" y="963709"/>
            <a:ext cx="8229600" cy="3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-project.org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hyperlink" Target="https://iqss.github.io/dss-workshops/R/Rintro/base-r-cheat-sheet.pdf" TargetMode="External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hollist/dadjokeapi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ggplot2.tidyverse.org/" TargetMode="Externa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r4ds.had.co.nz/" TargetMode="External"/><Relationship Id="rId5" Type="http://schemas.openxmlformats.org/officeDocument/2006/relationships/hyperlink" Target="https://www.statmethods.net/" TargetMode="External"/><Relationship Id="rId10" Type="http://schemas.openxmlformats.org/officeDocument/2006/relationships/image" Target="../media/image15.png"/><Relationship Id="rId4" Type="http://schemas.openxmlformats.org/officeDocument/2006/relationships/hyperlink" Target="https://www.r-bloggers.com/" TargetMode="External"/><Relationship Id="rId9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i="1"/>
              <a:t>Introduction to R and RStudio</a:t>
            </a:r>
            <a:endParaRPr i="1"/>
          </a:p>
        </p:txBody>
      </p:sp>
      <p:sp>
        <p:nvSpPr>
          <p:cNvPr id="58" name="Google Shape;58;p1"/>
          <p:cNvSpPr txBox="1"/>
          <p:nvPr/>
        </p:nvSpPr>
        <p:spPr>
          <a:xfrm>
            <a:off x="311700" y="3052425"/>
            <a:ext cx="8520600" cy="12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595959"/>
                </a:solidFill>
              </a:rPr>
              <a:t>Short Read Workshop </a:t>
            </a:r>
            <a:endParaRPr sz="2500">
              <a:solidFill>
                <a:srgbClr val="595959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595959"/>
                </a:solidFill>
              </a:rPr>
              <a:t>Day 6</a:t>
            </a:r>
            <a:endParaRPr sz="2500">
              <a:solidFill>
                <a:srgbClr val="595959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bad18276d_0_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 of Day 6 Video</a:t>
            </a:r>
            <a:endParaRPr/>
          </a:p>
        </p:txBody>
      </p:sp>
      <p:sp>
        <p:nvSpPr>
          <p:cNvPr id="4" name="Google Shape;64;g36bad18276d_0_1">
            <a:extLst>
              <a:ext uri="{FF2B5EF4-FFF2-40B4-BE49-F238E27FC236}">
                <a16:creationId xmlns:a16="http://schemas.microsoft.com/office/drawing/2014/main" id="{4B082532-CC95-7067-265B-2D99FAFAF39F}"/>
              </a:ext>
            </a:extLst>
          </p:cNvPr>
          <p:cNvSpPr txBox="1">
            <a:spLocks/>
          </p:cNvSpPr>
          <p:nvPr/>
        </p:nvSpPr>
        <p:spPr>
          <a:xfrm>
            <a:off x="559250" y="1177700"/>
            <a:ext cx="6512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/>
              <a:t>Introduction to R and RStudio</a:t>
            </a:r>
          </a:p>
          <a:p>
            <a:r>
              <a:rPr lang="en-US" dirty="0"/>
              <a:t>Overview of R</a:t>
            </a:r>
          </a:p>
          <a:p>
            <a:r>
              <a:rPr lang="en-US" dirty="0"/>
              <a:t>Loading data into R</a:t>
            </a:r>
          </a:p>
          <a:p>
            <a:r>
              <a:rPr lang="en-US" dirty="0"/>
              <a:t>Filtering data frames in R</a:t>
            </a:r>
          </a:p>
          <a:p>
            <a:pPr lvl="1"/>
            <a:r>
              <a:rPr lang="en-US" dirty="0"/>
              <a:t>Based on a column value and IDs</a:t>
            </a:r>
          </a:p>
          <a:p>
            <a:r>
              <a:rPr lang="en-US" dirty="0"/>
              <a:t>Brief installation instructions</a:t>
            </a:r>
          </a:p>
          <a:p>
            <a:r>
              <a:rPr lang="en-US" dirty="0"/>
              <a:t>Data visualization and plotting with ggplot2 (in R)</a:t>
            </a:r>
          </a:p>
          <a:p>
            <a:pPr lvl="1"/>
            <a:r>
              <a:rPr lang="en-US" dirty="0"/>
              <a:t>Syntax introduction</a:t>
            </a:r>
          </a:p>
          <a:p>
            <a:pPr lvl="1"/>
            <a:r>
              <a:rPr lang="en-US" dirty="0"/>
              <a:t>Example scatter plot for differential expression data (MA plot)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55c330574c_0_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Day 6 Overview</a:t>
            </a:r>
            <a:endParaRPr/>
          </a:p>
        </p:txBody>
      </p:sp>
      <p:sp>
        <p:nvSpPr>
          <p:cNvPr id="70" name="Google Shape;70;g255c330574c_0_66"/>
          <p:cNvSpPr txBox="1">
            <a:spLocks noGrp="1"/>
          </p:cNvSpPr>
          <p:nvPr>
            <p:ph type="body" idx="1"/>
          </p:nvPr>
        </p:nvSpPr>
        <p:spPr>
          <a:xfrm>
            <a:off x="1186800" y="1151750"/>
            <a:ext cx="6770400" cy="31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Running </a:t>
            </a:r>
            <a:r>
              <a:rPr lang="en" sz="20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" sz="2000"/>
              <a:t> in the terminal</a:t>
            </a:r>
            <a:endParaRPr sz="200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Running </a:t>
            </a:r>
            <a:r>
              <a:rPr lang="en" sz="20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R </a:t>
            </a:r>
            <a:r>
              <a:rPr lang="en" sz="2000"/>
              <a:t>in</a:t>
            </a:r>
            <a:r>
              <a:rPr lang="en" sz="20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RStudio</a:t>
            </a:r>
            <a:r>
              <a:rPr lang="en" sz="2000"/>
              <a:t> </a:t>
            </a:r>
            <a:endParaRPr sz="200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Submitting </a:t>
            </a:r>
            <a:r>
              <a:rPr lang="en" sz="20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R script</a:t>
            </a:r>
            <a:r>
              <a:rPr lang="en" sz="2000"/>
              <a:t> as an sbatch job</a:t>
            </a:r>
            <a:endParaRPr sz="2000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1" name="Google Shape;71;g255c330574c_0_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12351" y="3885940"/>
            <a:ext cx="1679322" cy="1194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g255c330574c_0_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59021" y="3885940"/>
            <a:ext cx="1303952" cy="1194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Goal of the day</a:t>
            </a:r>
            <a:endParaRPr/>
          </a:p>
        </p:txBody>
      </p:sp>
      <p:sp>
        <p:nvSpPr>
          <p:cNvPr id="78" name="Google Shape;78;p3"/>
          <p:cNvSpPr txBox="1">
            <a:spLocks noGrp="1"/>
          </p:cNvSpPr>
          <p:nvPr>
            <p:ph type="body" idx="1"/>
          </p:nvPr>
        </p:nvSpPr>
        <p:spPr>
          <a:xfrm>
            <a:off x="343650" y="1201238"/>
            <a:ext cx="8456700" cy="6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/>
              <a:t>Learn how to run R code! </a:t>
            </a:r>
            <a:endParaRPr sz="2000"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/>
              <a:t>Practice installing packages, tidying data, plotting and saving files.</a:t>
            </a:r>
            <a:endParaRPr sz="2000"/>
          </a:p>
        </p:txBody>
      </p:sp>
      <p:pic>
        <p:nvPicPr>
          <p:cNvPr id="79" name="Google Shape;7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00251" y="2893740"/>
            <a:ext cx="1679322" cy="1194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5671" y="2893740"/>
            <a:ext cx="1303952" cy="1194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is R?</a:t>
            </a:r>
            <a:endParaRPr/>
          </a:p>
        </p:txBody>
      </p:sp>
      <p:sp>
        <p:nvSpPr>
          <p:cNvPr id="86" name="Google Shape;86;p4"/>
          <p:cNvSpPr txBox="1">
            <a:spLocks noGrp="1"/>
          </p:cNvSpPr>
          <p:nvPr>
            <p:ph type="body" idx="1"/>
          </p:nvPr>
        </p:nvSpPr>
        <p:spPr>
          <a:xfrm>
            <a:off x="311700" y="1417575"/>
            <a:ext cx="8520600" cy="2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 is a free statistical computing and graphing software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Can be installed from their website </a:t>
            </a:r>
            <a:r>
              <a:rPr lang="en" sz="2000" u="sng">
                <a:solidFill>
                  <a:schemeClr val="hlink"/>
                </a:solidFill>
                <a:hlinkClick r:id="rId3"/>
              </a:rPr>
              <a:t>https://www.r-project.org/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 can be run in a few environments: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RStudio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Jupyter</a:t>
            </a:r>
            <a:endParaRPr sz="2000"/>
          </a:p>
        </p:txBody>
      </p:sp>
      <p:pic>
        <p:nvPicPr>
          <p:cNvPr id="87" name="Google Shape;87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66676" y="2369565"/>
            <a:ext cx="1679322" cy="1194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25189" y="3625663"/>
            <a:ext cx="1195064" cy="12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00221" y="3692570"/>
            <a:ext cx="1066454" cy="1109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5c3305560_0_0"/>
          <p:cNvSpPr txBox="1">
            <a:spLocks noGrp="1"/>
          </p:cNvSpPr>
          <p:nvPr>
            <p:ph type="title"/>
          </p:nvPr>
        </p:nvSpPr>
        <p:spPr>
          <a:xfrm>
            <a:off x="311700" y="19875"/>
            <a:ext cx="8520600" cy="5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There are different ways to interact with R</a:t>
            </a:r>
            <a:endParaRPr/>
          </a:p>
        </p:txBody>
      </p:sp>
      <p:sp>
        <p:nvSpPr>
          <p:cNvPr id="95" name="Google Shape;95;g255c3305560_0_0"/>
          <p:cNvSpPr txBox="1">
            <a:spLocks noGrp="1"/>
          </p:cNvSpPr>
          <p:nvPr>
            <p:ph type="body" idx="1"/>
          </p:nvPr>
        </p:nvSpPr>
        <p:spPr>
          <a:xfrm>
            <a:off x="364975" y="590475"/>
            <a:ext cx="2346900" cy="4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R console</a:t>
            </a:r>
            <a:endParaRPr/>
          </a:p>
        </p:txBody>
      </p:sp>
      <p:sp>
        <p:nvSpPr>
          <p:cNvPr id="96" name="Google Shape;96;g255c3305560_0_0"/>
          <p:cNvSpPr txBox="1">
            <a:spLocks noGrp="1"/>
          </p:cNvSpPr>
          <p:nvPr>
            <p:ph type="body" idx="1"/>
          </p:nvPr>
        </p:nvSpPr>
        <p:spPr>
          <a:xfrm>
            <a:off x="5847612" y="590475"/>
            <a:ext cx="3296400" cy="4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Submit an R script as a job</a:t>
            </a:r>
            <a:endParaRPr/>
          </a:p>
        </p:txBody>
      </p:sp>
      <p:pic>
        <p:nvPicPr>
          <p:cNvPr id="97" name="Google Shape;97;g255c3305560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1195" y="1126985"/>
            <a:ext cx="2769379" cy="2015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g255c3305560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1143" y="1128250"/>
            <a:ext cx="2645556" cy="20125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" name="Google Shape;99;g255c3305560_0_0"/>
          <p:cNvCxnSpPr/>
          <p:nvPr/>
        </p:nvCxnSpPr>
        <p:spPr>
          <a:xfrm rot="10800000">
            <a:off x="338818" y="3042175"/>
            <a:ext cx="1267200" cy="7812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0" name="Google Shape;100;g255c3305560_0_0"/>
          <p:cNvSpPr txBox="1"/>
          <p:nvPr/>
        </p:nvSpPr>
        <p:spPr>
          <a:xfrm>
            <a:off x="664675" y="3902188"/>
            <a:ext cx="1747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Enter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 code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here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" name="Google Shape;101;g255c3305560_0_0"/>
          <p:cNvCxnSpPr/>
          <p:nvPr/>
        </p:nvCxnSpPr>
        <p:spPr>
          <a:xfrm rot="10800000">
            <a:off x="7075537" y="3135125"/>
            <a:ext cx="1075200" cy="72390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2" name="Google Shape;102;g255c3305560_0_0"/>
          <p:cNvSpPr txBox="1"/>
          <p:nvPr/>
        </p:nvSpPr>
        <p:spPr>
          <a:xfrm>
            <a:off x="6867187" y="3859013"/>
            <a:ext cx="1747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 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script 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255c3305560_0_0"/>
          <p:cNvSpPr txBox="1"/>
          <p:nvPr/>
        </p:nvSpPr>
        <p:spPr>
          <a:xfrm>
            <a:off x="664675" y="4277900"/>
            <a:ext cx="1747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Interactive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255c3305560_0_0"/>
          <p:cNvSpPr txBox="1"/>
          <p:nvPr/>
        </p:nvSpPr>
        <p:spPr>
          <a:xfrm>
            <a:off x="6088499" y="4743300"/>
            <a:ext cx="3154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more compute intensive scripts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g255c3305560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66550" y="1254500"/>
            <a:ext cx="3154800" cy="1760059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019"/>
              </a:srgbClr>
            </a:outerShdw>
          </a:effectLst>
        </p:spPr>
      </p:pic>
      <p:sp>
        <p:nvSpPr>
          <p:cNvPr id="106" name="Google Shape;106;g255c3305560_0_0"/>
          <p:cNvSpPr txBox="1"/>
          <p:nvPr/>
        </p:nvSpPr>
        <p:spPr>
          <a:xfrm>
            <a:off x="3084300" y="3859025"/>
            <a:ext cx="297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Enter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 code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visualize plots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255c3305560_0_0"/>
          <p:cNvSpPr txBox="1"/>
          <p:nvPr/>
        </p:nvSpPr>
        <p:spPr>
          <a:xfrm>
            <a:off x="3649000" y="4277900"/>
            <a:ext cx="1747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 interactive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255c3305560_0_0"/>
          <p:cNvSpPr txBox="1"/>
          <p:nvPr/>
        </p:nvSpPr>
        <p:spPr>
          <a:xfrm>
            <a:off x="6867175" y="4277900"/>
            <a:ext cx="1747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Least interactive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255c3305560_0_0"/>
          <p:cNvSpPr txBox="1">
            <a:spLocks noGrp="1"/>
          </p:cNvSpPr>
          <p:nvPr>
            <p:ph type="body" idx="1"/>
          </p:nvPr>
        </p:nvSpPr>
        <p:spPr>
          <a:xfrm>
            <a:off x="3349288" y="590475"/>
            <a:ext cx="2346900" cy="4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R Studio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>
            <a:spLocks noGrp="1"/>
          </p:cNvSpPr>
          <p:nvPr>
            <p:ph type="title"/>
          </p:nvPr>
        </p:nvSpPr>
        <p:spPr>
          <a:xfrm>
            <a:off x="311700" y="-25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Summary of RStudio</a:t>
            </a:r>
            <a:endParaRPr/>
          </a:p>
        </p:txBody>
      </p:sp>
      <p:pic>
        <p:nvPicPr>
          <p:cNvPr id="115" name="Google Shape;11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300" y="699675"/>
            <a:ext cx="7925399" cy="417032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019"/>
              </a:srgbClr>
            </a:outerShdw>
          </a:effectLst>
        </p:spPr>
      </p:pic>
      <p:grpSp>
        <p:nvGrpSpPr>
          <p:cNvPr id="116" name="Google Shape;116;p5"/>
          <p:cNvGrpSpPr/>
          <p:nvPr/>
        </p:nvGrpSpPr>
        <p:grpSpPr>
          <a:xfrm>
            <a:off x="597477" y="3199250"/>
            <a:ext cx="4244100" cy="2022050"/>
            <a:chOff x="597477" y="3199250"/>
            <a:chExt cx="4244100" cy="2022050"/>
          </a:xfrm>
        </p:grpSpPr>
        <p:sp>
          <p:nvSpPr>
            <p:cNvPr id="117" name="Google Shape;117;p5"/>
            <p:cNvSpPr/>
            <p:nvPr/>
          </p:nvSpPr>
          <p:spPr>
            <a:xfrm>
              <a:off x="597477" y="3199250"/>
              <a:ext cx="4244100" cy="1670700"/>
            </a:xfrm>
            <a:prstGeom prst="rect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5"/>
            <p:cNvSpPr txBox="1"/>
            <p:nvPr/>
          </p:nvSpPr>
          <p:spPr>
            <a:xfrm>
              <a:off x="609950" y="4807300"/>
              <a:ext cx="2139900" cy="41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R console, Terminal</a:t>
              </a:r>
              <a:endParaRPr sz="14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5"/>
          <p:cNvGrpSpPr/>
          <p:nvPr/>
        </p:nvGrpSpPr>
        <p:grpSpPr>
          <a:xfrm>
            <a:off x="599175" y="362850"/>
            <a:ext cx="4240800" cy="2773100"/>
            <a:chOff x="599175" y="362850"/>
            <a:chExt cx="4240800" cy="2773100"/>
          </a:xfrm>
        </p:grpSpPr>
        <p:sp>
          <p:nvSpPr>
            <p:cNvPr id="120" name="Google Shape;120;p5"/>
            <p:cNvSpPr/>
            <p:nvPr/>
          </p:nvSpPr>
          <p:spPr>
            <a:xfrm>
              <a:off x="599175" y="1093850"/>
              <a:ext cx="4240800" cy="2042100"/>
            </a:xfrm>
            <a:prstGeom prst="rect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5"/>
            <p:cNvSpPr txBox="1"/>
            <p:nvPr/>
          </p:nvSpPr>
          <p:spPr>
            <a:xfrm>
              <a:off x="609950" y="362850"/>
              <a:ext cx="3416700" cy="26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R scripts, R markdown, R notebooks</a:t>
              </a:r>
              <a:endParaRPr sz="14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" name="Google Shape;122;p5"/>
          <p:cNvGrpSpPr/>
          <p:nvPr/>
        </p:nvGrpSpPr>
        <p:grpSpPr>
          <a:xfrm>
            <a:off x="4730775" y="394275"/>
            <a:ext cx="3808500" cy="1919375"/>
            <a:chOff x="4730775" y="394275"/>
            <a:chExt cx="3808500" cy="1919375"/>
          </a:xfrm>
        </p:grpSpPr>
        <p:sp>
          <p:nvSpPr>
            <p:cNvPr id="123" name="Google Shape;123;p5"/>
            <p:cNvSpPr txBox="1"/>
            <p:nvPr/>
          </p:nvSpPr>
          <p:spPr>
            <a:xfrm>
              <a:off x="4730775" y="394275"/>
              <a:ext cx="3808500" cy="30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Summary of all the data loaded in Rstudio</a:t>
              </a:r>
              <a:endParaRPr sz="14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4866375" y="1093850"/>
              <a:ext cx="3668400" cy="1219800"/>
            </a:xfrm>
            <a:prstGeom prst="rect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" name="Google Shape;125;p5"/>
          <p:cNvGrpSpPr/>
          <p:nvPr/>
        </p:nvGrpSpPr>
        <p:grpSpPr>
          <a:xfrm>
            <a:off x="4866375" y="2375075"/>
            <a:ext cx="3911600" cy="2846225"/>
            <a:chOff x="4866375" y="2375075"/>
            <a:chExt cx="3911600" cy="2846225"/>
          </a:xfrm>
        </p:grpSpPr>
        <p:sp>
          <p:nvSpPr>
            <p:cNvPr id="126" name="Google Shape;126;p5"/>
            <p:cNvSpPr txBox="1"/>
            <p:nvPr/>
          </p:nvSpPr>
          <p:spPr>
            <a:xfrm>
              <a:off x="5837075" y="4807300"/>
              <a:ext cx="2940900" cy="41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Directories, Plots, Packages...</a:t>
              </a:r>
              <a:endParaRPr sz="14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4866375" y="2375075"/>
              <a:ext cx="3668400" cy="2494800"/>
            </a:xfrm>
            <a:prstGeom prst="rect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76e2b878a6_0_7"/>
          <p:cNvSpPr txBox="1">
            <a:spLocks noGrp="1"/>
          </p:cNvSpPr>
          <p:nvPr>
            <p:ph type="title"/>
          </p:nvPr>
        </p:nvSpPr>
        <p:spPr>
          <a:xfrm>
            <a:off x="311700" y="274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Brief introduction to R syntax</a:t>
            </a:r>
            <a:endParaRPr/>
          </a:p>
        </p:txBody>
      </p:sp>
      <p:sp>
        <p:nvSpPr>
          <p:cNvPr id="133" name="Google Shape;133;g276e2b878a6_0_7"/>
          <p:cNvSpPr txBox="1"/>
          <p:nvPr/>
        </p:nvSpPr>
        <p:spPr>
          <a:xfrm>
            <a:off x="718800" y="4665825"/>
            <a:ext cx="7706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https://iqss.github.io/dss-workshops/R/Rintro/base-r-cheat-sheet.pdf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g276e2b878a6_0_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97804" y="847126"/>
            <a:ext cx="1756950" cy="1756949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35" name="Google Shape;135;g276e2b878a6_0_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6883" y="847125"/>
            <a:ext cx="2034362" cy="17569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36" name="Google Shape;136;g276e2b878a6_0_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468516" y="847125"/>
            <a:ext cx="2311776" cy="17569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37" name="Google Shape;137;g276e2b878a6_0_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02502" y="847125"/>
            <a:ext cx="2008597" cy="175695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38" name="Google Shape;138;g276e2b878a6_0_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676337" y="2756475"/>
            <a:ext cx="3791315" cy="17569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ee14835eb_0_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Installation demo</a:t>
            </a:r>
            <a:endParaRPr/>
          </a:p>
        </p:txBody>
      </p:sp>
      <p:sp>
        <p:nvSpPr>
          <p:cNvPr id="144" name="Google Shape;144;g36ee14835eb_0_4"/>
          <p:cNvSpPr txBox="1"/>
          <p:nvPr/>
        </p:nvSpPr>
        <p:spPr>
          <a:xfrm>
            <a:off x="1974900" y="4681800"/>
            <a:ext cx="519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https://github.com/jhollist/dadjokeapi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45" name="Google Shape;145;g36ee14835eb_0_4"/>
          <p:cNvSpPr/>
          <p:nvPr/>
        </p:nvSpPr>
        <p:spPr>
          <a:xfrm>
            <a:off x="2308500" y="3116138"/>
            <a:ext cx="4527000" cy="751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# Now we can install the Dad Joke API package from CRAN</a:t>
            </a:r>
            <a:endParaRPr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install.packages(</a:t>
            </a:r>
            <a:r>
              <a:rPr lang="en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"dadjokeapi"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" name="Google Shape;146;g36ee14835eb_0_4"/>
          <p:cNvSpPr/>
          <p:nvPr/>
        </p:nvSpPr>
        <p:spPr>
          <a:xfrm>
            <a:off x="2308500" y="3998725"/>
            <a:ext cx="4527000" cy="63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# This is a basic prompt to get a joke :)</a:t>
            </a:r>
            <a:endParaRPr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74EA7"/>
                </a:solidFill>
                <a:latin typeface="Consolas"/>
                <a:ea typeface="Consolas"/>
                <a:cs typeface="Consolas"/>
                <a:sym typeface="Consolas"/>
              </a:rPr>
              <a:t>dadjokeapi</a:t>
            </a:r>
            <a:r>
              <a:rPr lang="en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groan()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7" name="Google Shape;147;g36ee14835eb_0_4"/>
          <p:cNvSpPr txBox="1"/>
          <p:nvPr/>
        </p:nvSpPr>
        <p:spPr>
          <a:xfrm>
            <a:off x="1590900" y="1017725"/>
            <a:ext cx="596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 an R console, we will install </a:t>
            </a:r>
            <a:r>
              <a:rPr lang="en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dadjokeapi</a:t>
            </a:r>
            <a:r>
              <a:rPr lang="en" sz="1800">
                <a:solidFill>
                  <a:schemeClr val="dk2"/>
                </a:solidFill>
              </a:rPr>
              <a:t>!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8" name="Google Shape;148;g36ee14835eb_0_4"/>
          <p:cNvSpPr/>
          <p:nvPr/>
        </p:nvSpPr>
        <p:spPr>
          <a:xfrm>
            <a:off x="2308500" y="1596688"/>
            <a:ext cx="4527000" cy="63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# First, we will load R</a:t>
            </a:r>
            <a:endParaRPr dirty="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module load R/4.6.0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9" name="Google Shape;149;g36ee14835eb_0_4"/>
          <p:cNvSpPr/>
          <p:nvPr/>
        </p:nvSpPr>
        <p:spPr>
          <a:xfrm>
            <a:off x="2308500" y="2349650"/>
            <a:ext cx="4527000" cy="63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# In the terminal, we launch R console</a:t>
            </a:r>
            <a:endParaRPr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$ 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 txBox="1">
            <a:spLocks noGrp="1"/>
          </p:cNvSpPr>
          <p:nvPr>
            <p:ph type="title"/>
          </p:nvPr>
        </p:nvSpPr>
        <p:spPr>
          <a:xfrm>
            <a:off x="311700" y="219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1111"/>
              <a:buFont typeface="Arial"/>
              <a:buNone/>
            </a:pPr>
            <a:r>
              <a:rPr lang="en"/>
              <a:t>R you ready to learn some R?</a:t>
            </a:r>
            <a:endParaRPr b="1"/>
          </a:p>
        </p:txBody>
      </p:sp>
      <p:sp>
        <p:nvSpPr>
          <p:cNvPr id="155" name="Google Shape;155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Let’s go over the </a:t>
            </a:r>
            <a:r>
              <a:rPr lang="en" sz="2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Day6_worksheet1_Introduction_to_R.md </a:t>
            </a:r>
            <a:r>
              <a:rPr lang="en" sz="2000"/>
              <a:t>worksheet: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Introduction to R in the terminal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Learn basic R commands</a:t>
            </a:r>
            <a:endParaRPr sz="2000"/>
          </a:p>
        </p:txBody>
      </p:sp>
      <p:sp>
        <p:nvSpPr>
          <p:cNvPr id="156" name="Google Shape;156;p6"/>
          <p:cNvSpPr txBox="1">
            <a:spLocks noGrp="1"/>
          </p:cNvSpPr>
          <p:nvPr>
            <p:ph type="body" idx="1"/>
          </p:nvPr>
        </p:nvSpPr>
        <p:spPr>
          <a:xfrm>
            <a:off x="3398550" y="4640400"/>
            <a:ext cx="2346900" cy="4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R console</a:t>
            </a:r>
            <a:endParaRPr/>
          </a:p>
        </p:txBody>
      </p:sp>
      <p:pic>
        <p:nvPicPr>
          <p:cNvPr id="157" name="Google Shape;15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49225" y="2627825"/>
            <a:ext cx="2645556" cy="2012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55c330574c_0_0"/>
          <p:cNvSpPr txBox="1">
            <a:spLocks noGrp="1"/>
          </p:cNvSpPr>
          <p:nvPr>
            <p:ph type="title"/>
          </p:nvPr>
        </p:nvSpPr>
        <p:spPr>
          <a:xfrm>
            <a:off x="311700" y="219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Learning R in RStudio</a:t>
            </a:r>
            <a:endParaRPr b="1"/>
          </a:p>
        </p:txBody>
      </p:sp>
      <p:sp>
        <p:nvSpPr>
          <p:cNvPr id="163" name="Google Shape;163;g255c330574c_0_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dirty="0"/>
              <a:t>In </a:t>
            </a:r>
            <a:r>
              <a:rPr lang="en" sz="2000" dirty="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Day6_worksheet2_R_in_Rstudio.md </a:t>
            </a:r>
            <a:r>
              <a:rPr lang="en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" sz="2000" dirty="0"/>
              <a:t>Section A</a:t>
            </a:r>
            <a:r>
              <a:rPr lang="en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 sz="20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will go over the </a:t>
            </a:r>
            <a:r>
              <a:rPr lang="en" sz="2000" dirty="0" err="1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Learning_R.R</a:t>
            </a:r>
            <a:r>
              <a:rPr lang="en" sz="2000" dirty="0"/>
              <a:t> worksheet in R Studio: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 dirty="0"/>
              <a:t>Introduction to R and R Markdown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 dirty="0"/>
              <a:t>Introduction to the iris dataset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 dirty="0"/>
              <a:t>Installing and loading libraries</a:t>
            </a:r>
            <a:endParaRPr sz="2000" dirty="0"/>
          </a:p>
          <a:p>
            <a:pPr marL="137160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 dirty="0" err="1"/>
              <a:t>tidyverse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 dirty="0"/>
              <a:t>Generating summary statistic in R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 dirty="0"/>
              <a:t>Making plots with ggplot2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 dirty="0"/>
              <a:t>Manipulating </a:t>
            </a:r>
            <a:r>
              <a:rPr lang="en" sz="2000" dirty="0" err="1"/>
              <a:t>data.frames</a:t>
            </a:r>
            <a:endParaRPr sz="2000" dirty="0"/>
          </a:p>
        </p:txBody>
      </p:sp>
      <p:pic>
        <p:nvPicPr>
          <p:cNvPr id="164" name="Google Shape;164;g255c330574c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35125" y="2808825"/>
            <a:ext cx="3154800" cy="1760059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019"/>
              </a:srgbClr>
            </a:outerShdw>
          </a:effectLst>
        </p:spPr>
      </p:pic>
      <p:sp>
        <p:nvSpPr>
          <p:cNvPr id="165" name="Google Shape;165;g255c330574c_0_0"/>
          <p:cNvSpPr txBox="1">
            <a:spLocks noGrp="1"/>
          </p:cNvSpPr>
          <p:nvPr>
            <p:ph type="body" idx="1"/>
          </p:nvPr>
        </p:nvSpPr>
        <p:spPr>
          <a:xfrm>
            <a:off x="6039063" y="4647600"/>
            <a:ext cx="2346900" cy="4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R Studio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55c330574c_0_61"/>
          <p:cNvSpPr txBox="1">
            <a:spLocks noGrp="1"/>
          </p:cNvSpPr>
          <p:nvPr>
            <p:ph type="title"/>
          </p:nvPr>
        </p:nvSpPr>
        <p:spPr>
          <a:xfrm>
            <a:off x="311700" y="2755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Challenge Question</a:t>
            </a:r>
            <a:endParaRPr/>
          </a:p>
        </p:txBody>
      </p:sp>
      <p:sp>
        <p:nvSpPr>
          <p:cNvPr id="171" name="Google Shape;171;g255c330574c_0_6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How would you perform a computationally intensive R job?</a:t>
            </a:r>
            <a:endParaRPr sz="2200"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i.e. Requires more memory than on your personal computer.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55c330574c_0_11"/>
          <p:cNvSpPr txBox="1">
            <a:spLocks noGrp="1"/>
          </p:cNvSpPr>
          <p:nvPr>
            <p:ph type="title"/>
          </p:nvPr>
        </p:nvSpPr>
        <p:spPr>
          <a:xfrm>
            <a:off x="311700" y="22165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Writing an R script to submit on a supercomputer</a:t>
            </a:r>
            <a:endParaRPr/>
          </a:p>
        </p:txBody>
      </p:sp>
      <p:sp>
        <p:nvSpPr>
          <p:cNvPr id="177" name="Google Shape;177;g255c330574c_0_11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Follow </a:t>
            </a:r>
            <a:r>
              <a:rPr lang="en" sz="2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Day6_worksheet2_R_in_Rstudio.md </a:t>
            </a:r>
            <a:r>
              <a:rPr lang="en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" sz="2000"/>
              <a:t>Section B</a:t>
            </a:r>
            <a:r>
              <a:rPr lang="en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Edit</a:t>
            </a:r>
            <a:r>
              <a:rPr lang="en" sz="18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 Learning_R_submit_aws.R</a:t>
            </a:r>
            <a:endParaRPr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Save plots and tables to a working directory in the script</a:t>
            </a:r>
            <a:endParaRPr sz="16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Run the R script as a job on AWS</a:t>
            </a:r>
            <a:endParaRPr sz="2000"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Use the </a:t>
            </a:r>
            <a:r>
              <a:rPr lang="en" sz="1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RScript</a:t>
            </a:r>
            <a:r>
              <a:rPr lang="en" sz="1600"/>
              <a:t> command to call your script</a:t>
            </a:r>
            <a:endParaRPr sz="1600"/>
          </a:p>
        </p:txBody>
      </p:sp>
      <p:pic>
        <p:nvPicPr>
          <p:cNvPr id="178" name="Google Shape;178;g255c330574c_0_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40188" y="2433918"/>
            <a:ext cx="3292111" cy="2393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/>
          <p:nvPr/>
        </p:nvSpPr>
        <p:spPr>
          <a:xfrm>
            <a:off x="381000" y="1299388"/>
            <a:ext cx="8229600" cy="4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55600" algn="l" rtl="0">
              <a:lnSpc>
                <a:spcPct val="200000"/>
              </a:lnSpc>
              <a:spcBef>
                <a:spcPts val="640"/>
              </a:spcBef>
              <a:spcAft>
                <a:spcPts val="0"/>
              </a:spcAft>
              <a:buClr>
                <a:srgbClr val="141313"/>
              </a:buClr>
              <a:buSzPts val="2000"/>
              <a:buFont typeface="Arial"/>
              <a:buChar char="•"/>
            </a:pPr>
            <a:r>
              <a:rPr lang="en" sz="2000" b="0" i="0" u="none" strike="noStrike" cap="none">
                <a:solidFill>
                  <a:srgbClr val="141313"/>
                </a:solidFill>
                <a:latin typeface="Arial"/>
                <a:ea typeface="Arial"/>
                <a:cs typeface="Arial"/>
                <a:sym typeface="Arial"/>
              </a:rPr>
              <a:t>ggplot2 website </a:t>
            </a:r>
            <a:r>
              <a:rPr lang="en" sz="2000" b="0" i="0" u="sng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https://ggplot2.tidyverse.org/</a:t>
            </a:r>
            <a:endParaRPr sz="2000" b="0" i="0" u="none" strike="noStrike" cap="none">
              <a:solidFill>
                <a:srgbClr val="14131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41313"/>
              </a:buClr>
              <a:buSzPts val="2000"/>
              <a:buFont typeface="Arial"/>
              <a:buChar char="•"/>
            </a:pPr>
            <a:r>
              <a:rPr lang="en" sz="2000" b="0" i="0" u="none" strike="noStrike" cap="none">
                <a:solidFill>
                  <a:srgbClr val="141313"/>
                </a:solidFill>
                <a:latin typeface="Arial"/>
                <a:ea typeface="Arial"/>
                <a:cs typeface="Arial"/>
                <a:sym typeface="Arial"/>
              </a:rPr>
              <a:t>R-bloggers </a:t>
            </a:r>
            <a:r>
              <a:rPr lang="en" sz="2000" b="0" i="0" u="sng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https://www.r-bloggers.com/</a:t>
            </a:r>
            <a:endParaRPr sz="2000" b="0" i="0" u="none" strike="noStrike" cap="none">
              <a:solidFill>
                <a:srgbClr val="14131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41313"/>
              </a:buClr>
              <a:buSzPts val="2000"/>
              <a:buFont typeface="Arial"/>
              <a:buChar char="•"/>
            </a:pPr>
            <a:r>
              <a:rPr lang="en" sz="2000" b="0" i="0" u="none" strike="noStrike" cap="none">
                <a:solidFill>
                  <a:srgbClr val="141313"/>
                </a:solidFill>
                <a:latin typeface="Arial"/>
                <a:ea typeface="Arial"/>
                <a:cs typeface="Arial"/>
                <a:sym typeface="Arial"/>
              </a:rPr>
              <a:t>Quick-R </a:t>
            </a:r>
            <a:r>
              <a:rPr lang="en" sz="2000" b="0" i="0" u="sng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https://www.statmethods.net/</a:t>
            </a:r>
            <a:endParaRPr sz="2000" b="0" i="0" u="none" strike="noStrike" cap="none">
              <a:solidFill>
                <a:srgbClr val="14131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313"/>
              </a:buClr>
              <a:buSzPts val="2000"/>
              <a:buFont typeface="Arial"/>
              <a:buChar char="•"/>
            </a:pPr>
            <a:r>
              <a:rPr lang="en" sz="2000" b="0" i="0" u="none" strike="noStrike" cap="none">
                <a:solidFill>
                  <a:srgbClr val="141313"/>
                </a:solidFill>
                <a:latin typeface="Arial"/>
                <a:ea typeface="Arial"/>
                <a:cs typeface="Arial"/>
                <a:sym typeface="Arial"/>
              </a:rPr>
              <a:t>R for Data Science (by Hadley Wickham &amp; Garrett Grolemund) </a:t>
            </a:r>
            <a:r>
              <a:rPr lang="en" sz="2000" b="0" i="0" u="sng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http://r4ds.had.co.nz/</a:t>
            </a:r>
            <a:r>
              <a:rPr lang="en" sz="2000" b="0" i="0" u="none" strike="noStrike" cap="none">
                <a:solidFill>
                  <a:srgbClr val="14131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000" b="0" i="0" u="none" strike="noStrike" cap="none">
              <a:solidFill>
                <a:srgbClr val="1413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1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23284" y="1558974"/>
            <a:ext cx="2122415" cy="72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13380" y="2365072"/>
            <a:ext cx="1247208" cy="72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979275" y="3328320"/>
            <a:ext cx="1164725" cy="1716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056361" y="737550"/>
            <a:ext cx="822539" cy="94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0"/>
          <p:cNvSpPr txBox="1">
            <a:spLocks noGrp="1"/>
          </p:cNvSpPr>
          <p:nvPr>
            <p:ph type="title"/>
          </p:nvPr>
        </p:nvSpPr>
        <p:spPr>
          <a:xfrm>
            <a:off x="311700" y="191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More resources for R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 txBox="1">
            <a:spLocks noGrp="1"/>
          </p:cNvSpPr>
          <p:nvPr>
            <p:ph type="title"/>
          </p:nvPr>
        </p:nvSpPr>
        <p:spPr>
          <a:xfrm>
            <a:off x="0" y="15550"/>
            <a:ext cx="9100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194" name="Google Shape;194;p12"/>
          <p:cNvSpPr txBox="1">
            <a:spLocks noGrp="1"/>
          </p:cNvSpPr>
          <p:nvPr>
            <p:ph type="body" idx="1"/>
          </p:nvPr>
        </p:nvSpPr>
        <p:spPr>
          <a:xfrm>
            <a:off x="311700" y="652350"/>
            <a:ext cx="8520600" cy="3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1. Complete the </a:t>
            </a:r>
            <a:r>
              <a:rPr lang="en" sz="14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Learning_R_Additional_Practice.R</a:t>
            </a:r>
            <a:endParaRPr sz="14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30"/>
              <a:buNone/>
            </a:pPr>
            <a:r>
              <a:rPr lang="en" sz="1400"/>
              <a:t>This homework will go over most of the topics covered today, but on a different dataset. There will be more advanced questions that build on what was in the inclass session. </a:t>
            </a:r>
            <a:endParaRPr sz="14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30"/>
              <a:buNone/>
            </a:pPr>
            <a:r>
              <a:rPr lang="en" sz="1400"/>
              <a:t>2. For </a:t>
            </a:r>
            <a:r>
              <a:rPr lang="en" sz="1400" b="1"/>
              <a:t>Project B (multi-omics)</a:t>
            </a:r>
            <a:r>
              <a:rPr lang="en" sz="1400"/>
              <a:t> </a:t>
            </a:r>
            <a:endParaRPr sz="1400"/>
          </a:p>
          <a:p>
            <a:pPr marL="457200" lvl="0" indent="-3175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Install </a:t>
            </a:r>
            <a:r>
              <a:rPr lang="en" sz="14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rsubread</a:t>
            </a:r>
            <a:endParaRPr sz="1400"/>
          </a:p>
          <a:p>
            <a:pPr marL="0" lvl="0" indent="4572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400" i="1">
                <a:solidFill>
                  <a:srgbClr val="E06666"/>
                </a:solidFill>
              </a:rPr>
              <a:t>Install this in R on AWS</a:t>
            </a:r>
            <a:r>
              <a:rPr lang="en" sz="1400">
                <a:solidFill>
                  <a:srgbClr val="E06666"/>
                </a:solidFill>
              </a:rPr>
              <a:t>.</a:t>
            </a:r>
            <a:endParaRPr sz="1400">
              <a:solidFill>
                <a:srgbClr val="E0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175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install </a:t>
            </a:r>
            <a:r>
              <a:rPr lang="en" sz="14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DESeq2</a:t>
            </a:r>
            <a:endParaRPr sz="14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 i="1">
                <a:solidFill>
                  <a:srgbClr val="E06666"/>
                </a:solidFill>
              </a:rPr>
              <a:t>Install this on your local machine</a:t>
            </a:r>
            <a:r>
              <a:rPr lang="en" sz="1400">
                <a:solidFill>
                  <a:srgbClr val="E06666"/>
                </a:solidFill>
              </a:rPr>
              <a:t>. </a:t>
            </a:r>
            <a:endParaRPr sz="1400">
              <a:solidFill>
                <a:srgbClr val="E06666"/>
              </a:solidFill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400">
              <a:solidFill>
                <a:srgbClr val="E06666"/>
              </a:solidFill>
            </a:endParaRPr>
          </a:p>
          <a:p>
            <a:pPr marL="0" lvl="0" indent="0" algn="ctr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CC0000"/>
                </a:solidFill>
              </a:rPr>
              <a:t>This takes a long time, so get this installed before Day7.</a:t>
            </a:r>
            <a:endParaRPr sz="1400">
              <a:solidFill>
                <a:srgbClr val="CC0000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530"/>
              <a:buNone/>
            </a:pP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648</Words>
  <Application>Microsoft Macintosh PowerPoint</Application>
  <PresentationFormat>On-screen Show (16:9)</PresentationFormat>
  <Paragraphs>95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Simple Light</vt:lpstr>
      <vt:lpstr>Introduction to R and RStudio</vt:lpstr>
      <vt:lpstr>Recap of Day 6 Video</vt:lpstr>
      <vt:lpstr>Day 6 Overview</vt:lpstr>
      <vt:lpstr>Goal of the day</vt:lpstr>
      <vt:lpstr>What is R?</vt:lpstr>
      <vt:lpstr>There are different ways to interact with R</vt:lpstr>
      <vt:lpstr>Summary of RStudio</vt:lpstr>
      <vt:lpstr>Brief introduction to R syntax</vt:lpstr>
      <vt:lpstr>Installation demo</vt:lpstr>
      <vt:lpstr>R you ready to learn some R?</vt:lpstr>
      <vt:lpstr>Learning R in RStudio</vt:lpstr>
      <vt:lpstr>Challenge Question</vt:lpstr>
      <vt:lpstr>Writing an R script to submit on a supercomputer</vt:lpstr>
      <vt:lpstr>More resources for R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Zarko</dc:creator>
  <cp:lastModifiedBy>Catie Kean</cp:lastModifiedBy>
  <cp:revision>1</cp:revision>
  <dcterms:modified xsi:type="dcterms:W3CDTF">2026-07-10T16:49:59Z</dcterms:modified>
</cp:coreProperties>
</file>